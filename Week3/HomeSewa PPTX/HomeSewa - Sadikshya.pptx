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e450da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e450da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1102e5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81102e5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1102e52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81102e52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1102e52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1102e52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1102e52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1102e52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1102e52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81102e52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81102e52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81102e52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1102e52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81102e52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1102e52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81102e52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1102e52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1102e52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1102e52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81102e52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1102e52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1102e52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1102e52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81102e52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1102e52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81102e52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1102e52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1102e52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1102e52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81102e52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1102e52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81102e52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81102e52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81102e52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1102e52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81102e52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81102e52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81102e52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1102e52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81102e52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1102e52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81102e52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1102e52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1102e52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1102e522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81102e52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1102e522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81102e522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1102e522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81102e522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81102e522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81102e522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1102e52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81102e52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81102e522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81102e522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1102e522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81102e522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1102e52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81102e52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1102e522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81102e522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81102e522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81102e522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81102e522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81102e522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1102e522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81102e522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81102e522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81102e522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81102e522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81102e522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81102e522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81102e522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7ec853771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7ec853771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7ec85377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7ec85377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HomeSewa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Kathmandu Market Data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000" y="937075"/>
            <a:ext cx="7309998" cy="36549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 </a:t>
            </a:r>
            <a:r>
              <a:rPr lang="en" sz="1000"/>
              <a:t>A few companies dominate with a wide service range, while most competitors offer only a handful of services.</a:t>
            </a:r>
            <a:endParaRPr sz="1000"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services offered per company</a:t>
            </a:r>
            <a:endParaRPr b="1" sz="1500"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This chart compares how many distinct services each company in the Nepal home services market currently offers.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A small number of categories account for the majority of all services listed in the market.</a:t>
            </a:r>
            <a:endParaRPr sz="1000"/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Share of total services by category</a:t>
            </a:r>
            <a:endParaRPr b="1" sz="1500"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what percentage of the total service offerings falls under each service category.</a:t>
            </a:r>
            <a:endParaRPr sz="1000"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17251" l="0" r="0" t="10264"/>
          <a:stretch/>
        </p:blipFill>
        <p:spPr>
          <a:xfrm>
            <a:off x="2152650" y="888950"/>
            <a:ext cx="4838700" cy="350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Categories like cleaning and repair have far more recorded services than niche categories.</a:t>
            </a:r>
            <a:endParaRPr sz="1000"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Total number of services recorded under each category</a:t>
            </a:r>
            <a:endParaRPr b="1" sz="1500"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the raw count of services recorded under every individual category.</a:t>
            </a:r>
            <a:endParaRPr sz="10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850" y="888950"/>
            <a:ext cx="7406299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Most companies cluster around a few common categories, leaving many categories served by only one or two players.</a:t>
            </a:r>
            <a:endParaRPr sz="1000"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Heat map showing which companies operate in which service categories</a:t>
            </a:r>
            <a:endParaRPr b="1" sz="1500"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heat map shows which companies are active in which service categories, and how concentrated that activity is.</a:t>
            </a:r>
            <a:endParaRPr sz="100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663" y="888950"/>
            <a:ext cx="5554674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Availability is limited, pointing to a gap that could be an opportunity for new entrants.</a:t>
            </a:r>
            <a:endParaRPr sz="1000"/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Availability of Tackles Pro Services in Nepal Market</a:t>
            </a:r>
            <a:endParaRPr b="1" sz="1500"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how widely “Tackles Pro” type services are currently available across the Nepal market.</a:t>
            </a:r>
            <a:endParaRPr sz="1000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050" y="888950"/>
            <a:ext cx="6171900" cy="37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Larger companies diversify across many categories, while smaller ones stay focused on one or two.</a:t>
            </a:r>
            <a:endParaRPr sz="1000"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Distribution of service categories offered by each company</a:t>
            </a:r>
            <a:endParaRPr b="1" sz="1500"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breaks down, company by company, how their offered services are spread across different categories.</a:t>
            </a:r>
            <a:endParaRPr sz="100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88" y="888950"/>
            <a:ext cx="8023436" cy="37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Companies with higher e-commerce tiers are more likely to display transparent pricing.</a:t>
            </a:r>
            <a:endParaRPr sz="1000"/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Relationship between pricing visibility and E-Commerce Tier</a:t>
            </a:r>
            <a:endParaRPr b="1" sz="1500"/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examines whether companies with clearer online pricing also tend to have stronger e-commerce presence.</a:t>
            </a:r>
            <a:endParaRPr sz="1000"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175" y="888950"/>
            <a:ext cx="6665639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Competition is heavily skewed, with a few services crowded by many providers and others nearly uncontested.</a:t>
            </a:r>
            <a:endParaRPr sz="1000"/>
          </a:p>
        </p:txBody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providers competing in each individual service</a:t>
            </a:r>
            <a:endParaRPr b="1" sz="1500"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how many providers are competing within each specific service.</a:t>
            </a:r>
            <a:endParaRPr sz="1000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788" y="965475"/>
            <a:ext cx="7156419" cy="35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Informal and individual providers make up a large share of the overall market.</a:t>
            </a:r>
            <a:endParaRPr sz="1000"/>
          </a:p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Count of providers by type</a:t>
            </a:r>
            <a:endParaRPr b="1" sz="1500"/>
          </a:p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counts providers grouped by their business type (formal company, platform, informal or individual).</a:t>
            </a:r>
            <a:endParaRPr sz="1000"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750" y="888950"/>
            <a:ext cx="6382500" cy="36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Formal companies dominate higher-value services, while informal providers dominate everyday household tasks.</a:t>
            </a:r>
            <a:endParaRPr sz="1000"/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How provider types vary across different services</a:t>
            </a:r>
            <a:endParaRPr b="1" sz="1500"/>
          </a:p>
        </p:txBody>
      </p:sp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which provider type (formal, platform, informal) tends to dominate each service.</a:t>
            </a:r>
            <a:endParaRPr sz="1000"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88950"/>
            <a:ext cx="8520602" cy="363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Provider supply drops off sharply after the top few services, showing a long tail of under-served services.</a:t>
            </a:r>
            <a:endParaRPr sz="1000"/>
          </a:p>
        </p:txBody>
      </p:sp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providers identified per service, ranked highest to lowest</a:t>
            </a:r>
            <a:endParaRPr b="1" sz="1500"/>
          </a:p>
        </p:txBody>
      </p:sp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ranks all services by how many providers were identified for each, from most to least.</a:t>
            </a:r>
            <a:endParaRPr sz="100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100" y="888950"/>
            <a:ext cx="4455802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Informal or directory-based listings still represent a significant portion of the market’s workforce presence.</a:t>
            </a:r>
            <a:endParaRPr sz="1000"/>
          </a:p>
        </p:txBody>
      </p:sp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Proportion of formal companies, app or platform listings, and informal or directory listings</a:t>
            </a:r>
            <a:endParaRPr b="1" sz="1500"/>
          </a:p>
        </p:txBody>
      </p:sp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the overall split between formal companies, app/platform listings, and informal or directory listings.</a:t>
            </a:r>
            <a:endParaRPr sz="1000"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363" y="898300"/>
            <a:ext cx="4433278" cy="368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A majority of services fall into the medium-demand range, with fewer at the high-demand extreme.</a:t>
            </a:r>
            <a:endParaRPr sz="1000"/>
          </a:p>
        </p:txBody>
      </p:sp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services falling into High, Medium, or Low demand</a:t>
            </a:r>
            <a:endParaRPr b="1" sz="1500"/>
          </a:p>
        </p:txBody>
      </p:sp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groups all services into High, Medium, or Low demand categories based on the analysis.</a:t>
            </a:r>
            <a:endParaRPr sz="1000"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963" y="888950"/>
            <a:ext cx="4916074" cy="366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A notable share of services are "Limited supply," indicating room for new providers to enter.</a:t>
            </a:r>
            <a:endParaRPr sz="1000"/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services classified as Well-served, Sufficient, or Limited supply</a:t>
            </a:r>
            <a:endParaRPr b="1" sz="1500"/>
          </a:p>
        </p:txBody>
      </p:sp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classifies services by how well their current provider supply meets demand.</a:t>
            </a:r>
            <a:endParaRPr sz="1000"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350" y="888950"/>
            <a:ext cx="4971305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Most services sit in the low-to-medium competition range, suggesting room for new entrants in many areas.</a:t>
            </a:r>
            <a:endParaRPr sz="1000"/>
          </a:p>
        </p:txBody>
      </p:sp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services with High, Medium, or Low competition</a:t>
            </a:r>
            <a:endParaRPr b="1" sz="1500"/>
          </a:p>
        </p:txBody>
      </p:sp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groups services by their level of competition among existing providers.</a:t>
            </a:r>
            <a:endParaRPr sz="1000"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338" y="888950"/>
            <a:ext cx="4971314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Several high-demand services still show low competition, marking them as strong opportunity areas.</a:t>
            </a:r>
            <a:endParaRPr sz="1000"/>
          </a:p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Cross-tabulation showing how demand level relates to competition level</a:t>
            </a:r>
            <a:endParaRPr b="1" sz="1500"/>
          </a:p>
        </p:txBody>
      </p:sp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cross-tabulates demand level against competition level to spot where demand outpaces competition.</a:t>
            </a:r>
            <a:endParaRPr sz="1000"/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525" y="888950"/>
            <a:ext cx="4633118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Services with fewer providers consistently rank lower on supply status, confirming supply gaps are provider-driven.</a:t>
            </a:r>
            <a:endParaRPr sz="1000"/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Relationship between number of providers found and their supply-status ranking</a:t>
            </a:r>
            <a:endParaRPr b="1" sz="1500"/>
          </a:p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plots the number of providers found for each service against its supply-status ranking.</a:t>
            </a:r>
            <a:endParaRPr sz="1000"/>
          </a:p>
        </p:txBody>
      </p:sp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350" y="888950"/>
            <a:ext cx="5327312" cy="37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Training availability is concentrated in a few popular categories, leaving many categories without formal training options.</a:t>
            </a:r>
            <a:endParaRPr sz="1000"/>
          </a:p>
        </p:txBody>
      </p:sp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Number of training providers available for each service category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how many training providers exist for each service category.</a:t>
            </a:r>
            <a:endParaRPr sz="1000"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263" y="888950"/>
            <a:ext cx="6515471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A small set of institutions cover the majority of trainable services, indicating low diversity among training providers.</a:t>
            </a:r>
            <a:endParaRPr sz="1000"/>
          </a:p>
        </p:txBody>
      </p:sp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Most active training institutions ranked by number of services covered</a:t>
            </a:r>
            <a:endParaRPr b="1" sz="1500"/>
          </a:p>
        </p:txBody>
      </p:sp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T</a:t>
            </a:r>
            <a:r>
              <a:rPr lang="en" sz="1000"/>
              <a:t>his chart ranks training institutions by how many different services they provide training for.</a:t>
            </a:r>
            <a:endParaRPr sz="1000"/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63" y="888950"/>
            <a:ext cx="7481878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Paid training programs make up the larger share, which may limit access for lower-income workers.</a:t>
            </a:r>
            <a:endParaRPr sz="1000"/>
          </a:p>
        </p:txBody>
      </p:sp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Share of training programs that are paid vs. free or subsidized</a:t>
            </a:r>
            <a:endParaRPr b="1" sz="1500"/>
          </a:p>
        </p:txBody>
      </p:sp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what proportion of training programs are paid compared to free or subsidized.</a:t>
            </a:r>
            <a:endParaRPr sz="1000"/>
          </a:p>
        </p:txBody>
      </p:sp>
      <p:pic>
        <p:nvPicPr>
          <p:cNvPr id="215" name="Google Shape;215;p33"/>
          <p:cNvPicPr preferRelativeResize="0"/>
          <p:nvPr/>
        </p:nvPicPr>
        <p:blipFill rotWithShape="1">
          <a:blip r:embed="rId3">
            <a:alphaModFix/>
          </a:blip>
          <a:srcRect b="8475" l="0" r="0" t="0"/>
          <a:stretch/>
        </p:blipFill>
        <p:spPr>
          <a:xfrm>
            <a:off x="2615475" y="888950"/>
            <a:ext cx="3913038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Private training providers form the largest group, with government and NGO options comparatively limited.</a:t>
            </a:r>
            <a:endParaRPr sz="1000"/>
          </a:p>
        </p:txBody>
      </p:sp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Breakdown of training providers by type</a:t>
            </a:r>
            <a:endParaRPr b="1" sz="1500"/>
          </a:p>
        </p:txBody>
      </p:sp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This chart breaks down training providers by type, such as government, private, or NGO.</a:t>
            </a:r>
            <a:endParaRPr sz="1000"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63" y="888950"/>
            <a:ext cx="6208476" cy="36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Free or subsidized training is more common in essential service categories than in specialized ones.</a:t>
            </a:r>
            <a:endParaRPr sz="1000"/>
          </a:p>
        </p:txBody>
      </p:sp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Paid vs. free or subsidized training split shown by service category</a:t>
            </a:r>
            <a:endParaRPr b="1" sz="1500"/>
          </a:p>
        </p:txBody>
      </p:sp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the paid versus free or subsidized training split within each individual service category.</a:t>
            </a:r>
            <a:endParaRPr sz="1000"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050" y="888950"/>
            <a:ext cx="7449892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Several service categories show little to no training availability, signaling a clear skills-development gap.</a:t>
            </a:r>
            <a:endParaRPr sz="1000"/>
          </a:p>
        </p:txBody>
      </p:sp>
      <p:sp>
        <p:nvSpPr>
          <p:cNvPr id="237" name="Google Shape;237;p36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Extent of training availability mapped across service categories</a:t>
            </a:r>
            <a:endParaRPr b="1" sz="1500"/>
          </a:p>
        </p:txBody>
      </p:sp>
      <p:sp>
        <p:nvSpPr>
          <p:cNvPr id="238" name="Google Shape;238;p36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maps how extensively training is available across all service categories.</a:t>
            </a:r>
            <a:endParaRPr sz="1000"/>
          </a:p>
        </p:txBody>
      </p:sp>
      <p:pic>
        <p:nvPicPr>
          <p:cNvPr id="239" name="Google Shape;23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88" y="888950"/>
            <a:ext cx="7486024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Coverage overlaps heavily among top institutions, while niche categories are left largely untrained.</a:t>
            </a:r>
            <a:endParaRPr sz="1000"/>
          </a:p>
        </p:txBody>
      </p:sp>
      <p:sp>
        <p:nvSpPr>
          <p:cNvPr id="245" name="Google Shape;245;p37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Heatmap showing which training institutions cover which service categories</a:t>
            </a:r>
            <a:endParaRPr b="1" sz="1500"/>
          </a:p>
        </p:txBody>
      </p:sp>
      <p:sp>
        <p:nvSpPr>
          <p:cNvPr id="246" name="Google Shape;246;p37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heat map shows which training institutions offer training for which service categories.</a:t>
            </a:r>
            <a:endParaRPr sz="1000"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188" y="888950"/>
            <a:ext cx="5103621" cy="370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Superhosts remain a minority, meaning most listings are still run by regular, non-Superhost hosts.</a:t>
            </a:r>
            <a:endParaRPr sz="1000"/>
          </a:p>
        </p:txBody>
      </p:sp>
      <p:sp>
        <p:nvSpPr>
          <p:cNvPr id="253" name="Google Shape;253;p38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Share of Superhosts vs regular Hosts in Kathmandu</a:t>
            </a:r>
            <a:endParaRPr b="1" sz="1500"/>
          </a:p>
        </p:txBody>
      </p:sp>
      <p:sp>
        <p:nvSpPr>
          <p:cNvPr id="254" name="Google Shape;254;p38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the proportion of Superhosts compared to regular Hosts operating in Kathmandu.</a:t>
            </a:r>
            <a:endParaRPr sz="1000"/>
          </a:p>
        </p:txBody>
      </p:sp>
      <p:pic>
        <p:nvPicPr>
          <p:cNvPr id="255" name="Google Shape;255;p38"/>
          <p:cNvPicPr preferRelativeResize="0"/>
          <p:nvPr/>
        </p:nvPicPr>
        <p:blipFill rotWithShape="1">
          <a:blip r:embed="rId3">
            <a:alphaModFix/>
          </a:blip>
          <a:srcRect b="10515" l="0" r="0" t="0"/>
          <a:stretch/>
        </p:blipFill>
        <p:spPr>
          <a:xfrm>
            <a:off x="2590650" y="888950"/>
            <a:ext cx="3962708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Superhosts consistently cluster at higher ratings, while regular Hosts show a wider, more mixed spread.</a:t>
            </a:r>
            <a:endParaRPr sz="1000"/>
          </a:p>
        </p:txBody>
      </p:sp>
      <p:sp>
        <p:nvSpPr>
          <p:cNvPr id="261" name="Google Shape;261;p39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Spread of guest ratings comparing Superhosts and Hosts</a:t>
            </a:r>
            <a:endParaRPr b="1" sz="1500"/>
          </a:p>
        </p:txBody>
      </p:sp>
      <p:sp>
        <p:nvSpPr>
          <p:cNvPr id="262" name="Google Shape;262;p39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compares the distribution of guest ratings between Superhosts and regular Hosts.</a:t>
            </a:r>
            <a:endParaRPr sz="1000"/>
          </a:p>
        </p:txBody>
      </p:sp>
      <p:pic>
        <p:nvPicPr>
          <p:cNvPr id="263" name="Google Shape;26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425" y="888950"/>
            <a:ext cx="6725158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Superhosts hold both higher average ratings and higher review counts, reflecting stronger guest trust.</a:t>
            </a:r>
            <a:endParaRPr sz="1000"/>
          </a:p>
        </p:txBody>
      </p:sp>
      <p:sp>
        <p:nvSpPr>
          <p:cNvPr id="269" name="Google Shape;269;p40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Average rating and average review count compared between Superhosts and Hosts</a:t>
            </a:r>
            <a:endParaRPr b="1" sz="1500"/>
          </a:p>
        </p:txBody>
      </p:sp>
      <p:sp>
        <p:nvSpPr>
          <p:cNvPr id="270" name="Google Shape;270;p40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compares the average rating and average number of reviews for Superhosts versus Hosts.</a:t>
            </a:r>
            <a:endParaRPr sz="1000"/>
          </a:p>
        </p:txBody>
      </p:sp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63" y="888950"/>
            <a:ext cx="8995467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Superhosts dominate the top of the review-count ranking, reinforcing their stronger market presence.</a:t>
            </a:r>
            <a:endParaRPr sz="1000"/>
          </a:p>
        </p:txBody>
      </p:sp>
      <p:sp>
        <p:nvSpPr>
          <p:cNvPr id="277" name="Google Shape;277;p41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Highest-reviewed individual hosts, color-coded by host type</a:t>
            </a:r>
            <a:endParaRPr b="1" sz="1500"/>
          </a:p>
        </p:txBody>
      </p:sp>
      <p:sp>
        <p:nvSpPr>
          <p:cNvPr id="278" name="Google Shape;278;p41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highlights the individual hosts with the most reviews, color-coded by whether they are a Superhost or Host.</a:t>
            </a:r>
            <a:endParaRPr sz="1000"/>
          </a:p>
        </p:txBody>
      </p:sp>
      <p:pic>
        <p:nvPicPr>
          <p:cNvPr id="279" name="Google Shape;2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425" y="888950"/>
            <a:ext cx="5311157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More reviews do not strongly guarantee higher ratings, but Superhosts maintain high ratings regardless of review volume.</a:t>
            </a:r>
            <a:endParaRPr sz="1000"/>
          </a:p>
        </p:txBody>
      </p:sp>
      <p:sp>
        <p:nvSpPr>
          <p:cNvPr id="285" name="Google Shape;285;p42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Correlation between number of reviews and rating score, by host type</a:t>
            </a:r>
            <a:endParaRPr b="1" sz="1500"/>
          </a:p>
        </p:txBody>
      </p:sp>
      <p:sp>
        <p:nvSpPr>
          <p:cNvPr id="286" name="Google Shape;286;p42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examines whether a higher number of reviews correlates with a higher rating, split by host type.</a:t>
            </a:r>
            <a:endParaRPr sz="1000"/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000" y="888950"/>
            <a:ext cx="5584007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Superhost status becomes more common at higher experience tiers, suggesting it's earned over time.</a:t>
            </a:r>
            <a:endParaRPr sz="1000"/>
          </a:p>
        </p:txBody>
      </p:sp>
      <p:sp>
        <p:nvSpPr>
          <p:cNvPr id="293" name="Google Shape;293;p43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providers in each hosting-experience tier, split by host type</a:t>
            </a:r>
            <a:endParaRPr b="1" sz="1500"/>
          </a:p>
        </p:txBody>
      </p:sp>
      <p:sp>
        <p:nvSpPr>
          <p:cNvPr id="294" name="Google Shape;294;p43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groups hosts into experience tiers and shows how Superhosts and Hosts are distributed across them.</a:t>
            </a:r>
            <a:endParaRPr sz="1000"/>
          </a:p>
        </p:txBody>
      </p:sp>
      <p:pic>
        <p:nvPicPr>
          <p:cNvPr id="295" name="Google Shape;2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63" y="888950"/>
            <a:ext cx="7481880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 </a:t>
            </a:r>
            <a:r>
              <a:rPr lang="en" sz="1000"/>
              <a:t>Demand peaks in specific months, revealing clear seasonal cycles rather than steady year-round demand.</a:t>
            </a:r>
            <a:endParaRPr sz="1000"/>
          </a:p>
        </p:txBody>
      </p:sp>
      <p:sp>
        <p:nvSpPr>
          <p:cNvPr id="301" name="Google Shape;301;p44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Number of services with High, Moderate and Low demand across each month of the year</a:t>
            </a:r>
            <a:endParaRPr b="1" sz="1500"/>
          </a:p>
        </p:txBody>
      </p:sp>
      <p:sp>
        <p:nvSpPr>
          <p:cNvPr id="302" name="Google Shape;302;p44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tracks how many services fall into High, Moderate, or Low demand for each month of the year.</a:t>
            </a:r>
            <a:endParaRPr sz="1000"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024" y="888950"/>
            <a:ext cx="7455947" cy="369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Different services peak at different times, showing that seasonality varies significantly by service type.</a:t>
            </a:r>
            <a:endParaRPr sz="1000"/>
          </a:p>
        </p:txBody>
      </p:sp>
      <p:sp>
        <p:nvSpPr>
          <p:cNvPr id="309" name="Google Shape;309;p45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Demand level for all 40 services mapped month-by-month</a:t>
            </a:r>
            <a:endParaRPr b="1" sz="1500"/>
          </a:p>
        </p:txBody>
      </p:sp>
      <p:sp>
        <p:nvSpPr>
          <p:cNvPr id="310" name="Google Shape;310;p45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maps the demand level of all 40 tracked services across every month of the year.</a:t>
            </a:r>
            <a:endParaRPr sz="1000"/>
          </a:p>
        </p:txBody>
      </p:sp>
      <p:pic>
        <p:nvPicPr>
          <p:cNvPr id="311" name="Google Shape;31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718351" y="301275"/>
            <a:ext cx="3707299" cy="4882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Some categories have short, intense demand peaks while others sustain moderate demand for longer stretches.</a:t>
            </a:r>
            <a:endParaRPr sz="1000"/>
          </a:p>
        </p:txBody>
      </p:sp>
      <p:sp>
        <p:nvSpPr>
          <p:cNvPr id="317" name="Google Shape;317;p46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Total services and average number of peak-demand months per category</a:t>
            </a:r>
            <a:endParaRPr b="1" sz="1500"/>
          </a:p>
        </p:txBody>
      </p:sp>
      <p:sp>
        <p:nvSpPr>
          <p:cNvPr id="318" name="Google Shape;318;p46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how many services exist per category and how many months, on average, each category experiences peak demand.</a:t>
            </a:r>
            <a:endParaRPr sz="1000"/>
          </a:p>
        </p:txBody>
      </p:sp>
      <p:pic>
        <p:nvPicPr>
          <p:cNvPr id="319" name="Google Shape;3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63" y="888950"/>
            <a:ext cx="7477481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Most categories show a similar seasonal rhythm, with a few categories bucking the overall trend.</a:t>
            </a:r>
            <a:endParaRPr sz="1000"/>
          </a:p>
        </p:txBody>
      </p:sp>
      <p:sp>
        <p:nvSpPr>
          <p:cNvPr id="325" name="Google Shape;325;p47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Average demand score trend across the year, by service category</a:t>
            </a:r>
            <a:endParaRPr b="1" sz="1500"/>
          </a:p>
        </p:txBody>
      </p:sp>
      <p:sp>
        <p:nvSpPr>
          <p:cNvPr id="326" name="Google Shape;326;p47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tracks the average demand score trend over the year for each service category.</a:t>
            </a:r>
            <a:endParaRPr sz="1000"/>
          </a:p>
        </p:txBody>
      </p:sp>
      <p:pic>
        <p:nvPicPr>
          <p:cNvPr id="327" name="Google Shape;3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13" y="888950"/>
            <a:ext cx="7464581" cy="37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The obtainable market is a small fraction of the total addressable market, setting realistic growth expectations.</a:t>
            </a:r>
            <a:endParaRPr sz="1000"/>
          </a:p>
        </p:txBody>
      </p:sp>
      <p:sp>
        <p:nvSpPr>
          <p:cNvPr id="333" name="Google Shape;333;p48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Overview of Total Addressable, Serviceable Available, and Target Obtainable Market</a:t>
            </a:r>
            <a:endParaRPr b="1" sz="1500"/>
          </a:p>
        </p:txBody>
      </p:sp>
      <p:sp>
        <p:nvSpPr>
          <p:cNvPr id="334" name="Google Shape;334;p48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This chart gives an overview of the three market-sizing tiers: TAM, SAM, and TOM.</a:t>
            </a:r>
            <a:endParaRPr sz="1000"/>
          </a:p>
        </p:txBody>
      </p:sp>
      <p:pic>
        <p:nvPicPr>
          <p:cNvPr id="335" name="Google Shape;3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550" y="888950"/>
            <a:ext cx="3564894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The steep drop from SAM to TOM highlights how much realistically capturable market shrinks after accounting for competition and reach.</a:t>
            </a:r>
            <a:endParaRPr sz="1000"/>
          </a:p>
        </p:txBody>
      </p:sp>
      <p:sp>
        <p:nvSpPr>
          <p:cNvPr id="341" name="Google Shape;341;p49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Funnel showing how market size shrinks from TAM to SAM to TOM</a:t>
            </a:r>
            <a:endParaRPr b="1" sz="1500"/>
          </a:p>
        </p:txBody>
      </p:sp>
      <p:sp>
        <p:nvSpPr>
          <p:cNvPr id="342" name="Google Shape;342;p49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funnel chart shows how the market size narrows step by step from TAM down to SAM and finally TOM.</a:t>
            </a:r>
            <a:endParaRPr sz="1000"/>
          </a:p>
        </p:txBody>
      </p:sp>
      <p:pic>
        <p:nvPicPr>
          <p:cNvPr id="343" name="Google Shape;34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363" y="888950"/>
            <a:ext cx="4961265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Even small changes in assumed market share significantly move the projected obtainable market size.</a:t>
            </a:r>
            <a:endParaRPr sz="1000"/>
          </a:p>
        </p:txBody>
      </p:sp>
      <p:sp>
        <p:nvSpPr>
          <p:cNvPr id="349" name="Google Shape;349;p50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How the TOM value changes as the assumed market-share percentage varies</a:t>
            </a:r>
            <a:endParaRPr b="1" sz="1500"/>
          </a:p>
        </p:txBody>
      </p:sp>
      <p:sp>
        <p:nvSpPr>
          <p:cNvPr id="350" name="Google Shape;350;p50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how the Target Obtainable Market value shifts under different assumed market-share percentages.</a:t>
            </a:r>
            <a:endParaRPr sz="1000"/>
          </a:p>
        </p:txBody>
      </p:sp>
      <p:pic>
        <p:nvPicPr>
          <p:cNvPr id="351" name="Google Shape;3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775" y="888950"/>
            <a:ext cx="6226442" cy="3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</a:t>
            </a:r>
            <a:r>
              <a:rPr lang="en" sz="1000"/>
              <a:t>A meaningful share of the analysis depends on estimates, so findings should be read with that margin of uncertainty in mind.</a:t>
            </a:r>
            <a:endParaRPr sz="1000"/>
          </a:p>
        </p:txBody>
      </p:sp>
      <p:sp>
        <p:nvSpPr>
          <p:cNvPr id="357" name="Google Shape;357;p51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Share of input data based on official figures versus estimated assumptions</a:t>
            </a:r>
            <a:endParaRPr b="1" sz="1500"/>
          </a:p>
        </p:txBody>
      </p:sp>
      <p:sp>
        <p:nvSpPr>
          <p:cNvPr id="358" name="Google Shape;358;p51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Description:</a:t>
            </a:r>
            <a:r>
              <a:rPr lang="en" sz="1000"/>
              <a:t> </a:t>
            </a:r>
            <a:r>
              <a:rPr lang="en" sz="1000"/>
              <a:t>This chart shows what portion of the analysis relies on official data versus estimated assumptions.</a:t>
            </a:r>
            <a:endParaRPr sz="1000"/>
          </a:p>
        </p:txBody>
      </p:sp>
      <p:pic>
        <p:nvPicPr>
          <p:cNvPr id="359" name="Google Shape;359;p51"/>
          <p:cNvPicPr preferRelativeResize="0"/>
          <p:nvPr/>
        </p:nvPicPr>
        <p:blipFill rotWithShape="1">
          <a:blip r:embed="rId3">
            <a:alphaModFix/>
          </a:blip>
          <a:srcRect b="8776" l="0" r="0" t="0"/>
          <a:stretch/>
        </p:blipFill>
        <p:spPr>
          <a:xfrm>
            <a:off x="2620350" y="888950"/>
            <a:ext cx="3903302" cy="37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title"/>
          </p:nvPr>
        </p:nvSpPr>
        <p:spPr>
          <a:xfrm>
            <a:off x="311700" y="21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365" name="Google Shape;365;p52"/>
          <p:cNvSpPr txBox="1"/>
          <p:nvPr>
            <p:ph type="title"/>
          </p:nvPr>
        </p:nvSpPr>
        <p:spPr>
          <a:xfrm>
            <a:off x="311700" y="789925"/>
            <a:ext cx="85206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Nepal Home Services: Google Search (official company websites)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Comparative Analysis: Google Search (official service provider websites)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Workforce Analysis: </a:t>
            </a:r>
            <a:r>
              <a:rPr lang="en" sz="1200"/>
              <a:t>Google Search (official service provider websites)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Training Providers: Google Search (official training provider websites)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Airbnb Providers: Official Airbnb website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Yearly Services: Analysis based on seasonal demand patterns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 TAM TOM Analysis: Census 2021, NLSS IV (2022/23), and estimated calculations</a:t>
            </a:r>
            <a:endParaRPr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ctrTitle"/>
          </p:nvPr>
        </p:nvSpPr>
        <p:spPr>
          <a:xfrm>
            <a:off x="311700" y="2087250"/>
            <a:ext cx="8520600" cy="9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