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shorelinedigital.agency/blog/is-ai-changing-the-home-service-industry-and-how-you-market-your-business/" TargetMode="External"/><Relationship Id="rId1" Type="http://schemas.openxmlformats.org/officeDocument/2006/relationships/hyperlink" Target="https://www.grandviewresearch.com/industry-analysis/online-on-demand-home-services-market-report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uc-investor-reports.s3.ap-southeast-1.amazonaws.com/Urban_Company_Management_presentation_FY26.pdf" TargetMode="External"/><Relationship Id="rId1" Type="http://schemas.openxmlformats.org/officeDocument/2006/relationships/hyperlink" Target="https://www.urbancompany.com/?srsltid=AfmBOorSKzXncUBoPlOZA7eOuOTB5bPZNWLDNouftHJhxQhrQPTlyBOH" TargetMode="Externa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techgeography.substack.com/p/snabbit-the-15-minute-maids-of-india" TargetMode="External"/><Relationship Id="rId2" Type="http://schemas.openxmlformats.org/officeDocument/2006/relationships/hyperlink" Target="https://www.snabbit.com/" TargetMode="External"/><Relationship Id="rId1" Type="http://schemas.openxmlformats.org/officeDocument/2006/relationships/hyperlink" Target="https://techcrunch.com/2026/04/27/indias-snabbit-closes-56m-round-as-investor-interest-heats-up-in-on-demand-home-services/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finance.yahoo.com/markets/stocks/articles/taskrabbit-tackles-messy-reality-life-120000103.html" TargetMode="External"/><Relationship Id="rId1" Type="http://schemas.openxmlformats.org/officeDocument/2006/relationships/hyperlink" Target="https://www.taskrabbi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rocketsingh.app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In</a:t>
            </a:r>
            <a:endParaRPr lang="en-US" sz="22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SERVICE INDUSTRY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12845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SRIYOG Consulting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Sadikshya Karki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28 June 2026</a:t>
            </a:r>
            <a:endParaRPr lang="en-US" sz="13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125" y="8686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277" y="96012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3.71B</a:t>
            </a:r>
            <a:endParaRPr lang="en-US" sz="2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277" y="146304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Size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3965" y="8686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117" y="96012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14.7B</a:t>
            </a:r>
            <a:endParaRPr lang="en-US" sz="2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87117" y="146304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2805" y="86868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5957" y="96012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2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35957" y="146304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1645" y="77724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4797" y="96012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2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84797" y="1463040"/>
            <a:ext cx="181965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Pacific CAGR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grandviewresearch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shorelinedigital</a:t>
            </a:r>
            <a:endParaRPr lang="en-US" sz="1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365125" y="2286000"/>
            <a:ext cx="4114800" cy="150622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365125" y="2411730"/>
            <a:ext cx="350647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Insights</a:t>
            </a:r>
            <a:endParaRPr lang="en-US" sz="15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374650" y="2731770"/>
            <a:ext cx="3779520" cy="982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35% revenue share (largest market)</a:t>
            </a:r>
            <a:endParaRPr lang="en-US" sz="13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Platform: 72% market share</a:t>
            </a:r>
            <a:endParaRPr lang="en-US" sz="13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Cleaning: 40% share by service type</a:t>
            </a:r>
            <a:endParaRPr lang="en-US" sz="1300" dirty="0"/>
          </a:p>
        </p:txBody>
      </p:sp>
      <p:sp>
        <p:nvSpPr>
          <p:cNvPr id="25" name="Shape 10"/>
          <p:cNvSpPr/>
          <p:nvPr/>
        </p:nvSpPr>
        <p:spPr>
          <a:xfrm>
            <a:off x="4660900" y="2288540"/>
            <a:ext cx="4116705" cy="150622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4663440" y="2430145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Transforming This Industry</a:t>
            </a:r>
            <a:endParaRPr lang="en-US" sz="15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4663440" y="2759075"/>
            <a:ext cx="3931920" cy="7632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 and dispatching</a:t>
            </a:r>
            <a:endParaRPr lang="en-US" sz="13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for customer communication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3995" y="0"/>
            <a:ext cx="838136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3995" y="777240"/>
            <a:ext cx="2280920" cy="3612515"/>
          </a:xfrm>
          <a:prstGeom prst="roundRect">
            <a:avLst>
              <a:gd name="adj" fmla="val 48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2430" y="868680"/>
            <a:ext cx="1920240" cy="30803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Technology-driven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AI-Application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service matching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4.79/5.0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UAE, Singapore, KSA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15565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725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52725" y="1143635"/>
            <a:ext cx="2834640" cy="8832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unorganized market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pricing, quality, and availability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online penetration (&lt;1%)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45175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2335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2335" y="1143635"/>
            <a:ext cx="2834640" cy="10052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reviews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SOPs (Standard Operating Procedures)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multiple service micro-markets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earnings and utilization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15565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725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52725" y="3035935"/>
            <a:ext cx="2834640" cy="7169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partner earnings and utilization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fixed pricing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quality-assured services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45175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2335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2335" y="3035935"/>
            <a:ext cx="2834640" cy="883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Investment costs for AI development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profitability in the international segment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urbancompany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uc-investor</a:t>
            </a:r>
            <a:endParaRPr lang="en-US" sz="1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075" y="0"/>
            <a:ext cx="837628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286000" cy="3624580"/>
          </a:xfrm>
          <a:prstGeom prst="roundRect">
            <a:avLst>
              <a:gd name="adj" fmla="val 48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29089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App-driven
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AI-Application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worker dispatch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4.8/5.0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(11 cities)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88920" y="1184910"/>
            <a:ext cx="2834640" cy="969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platform to find trusted workers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service quality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safety and trust for urban families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and unregulated workforce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79795" y="1161415"/>
            <a:ext cx="2834640" cy="9391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reviews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location and proximity data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and PAN verification records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utilization and income data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data for onboarding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88920" y="3035935"/>
            <a:ext cx="2834640" cy="9563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jobs processed daily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in per-order losses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lower customer acquisition cost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female workforce promoting safety and trust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9320" y="3035935"/>
            <a:ext cx="2834640" cy="730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Investment costs for AI development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profitability in the international segment</a:t>
            </a:r>
            <a:endParaRPr lang="en-US" sz="1050" dirty="0"/>
          </a:p>
        </p:txBody>
      </p:sp>
      <p:sp>
        <p:nvSpPr>
          <p:cNvPr id="18" name="Shape 16">
            <a:hlinkClick r:id="rId1" action="ppaction://hlinkfile"/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tooltip="" action="ppaction://hlinkfile"/>
              </a:rPr>
              <a:t>snabbit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techcrunch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techgeography</a:t>
            </a:r>
            <a:endParaRPr lang="en-US" sz="1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TASKRABBIT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286000" cy="3612515"/>
          </a:xfrm>
          <a:prstGeom prst="roundRect">
            <a:avLst>
              <a:gd name="adj" fmla="val 48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3266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Marketplace-driven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AI-Application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tasker recommendation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Launch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(April 2026)
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Canada, France, Germany, Italy, Portugal, Spain, UK, United States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88920" y="1163955"/>
            <a:ext cx="2834640" cy="1046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finding reliable home services professionals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trusted platform for skilled workers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availability of household services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77724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8869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9320" y="1163955"/>
            <a:ext cx="2834640" cy="10642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Tasker skills, pricing, and customer reviews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records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task completion records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 trends and demand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88920" y="3063240"/>
            <a:ext cx="2834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8 countries and 240+ IKEA stores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pledge for customer satisfaction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customer support with transparent pricing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booking through Claude 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26517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761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9320" y="3063240"/>
            <a:ext cx="2834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pricing across Taskers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depends on Tasker schedules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may vary between Taskers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SzPct val="100000"/>
              <a:buFont typeface="Arial" panose="020B0604020202090204" pitchFamily="34" charset="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control over Tasker conduct and service standards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taskrabbit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yahoofinance</a:t>
            </a:r>
            <a:endParaRPr lang="en-US" sz="1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APPLICATIONS CAN HELP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8470"/>
            <a:ext cx="1684655" cy="29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RocketSingh</a:t>
            </a:r>
            <a:endParaRPr lang="en-US" sz="17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32450" y="202565"/>
            <a:ext cx="337439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Superfast On-Demand Home Service · Chennai, India</a:t>
            </a:r>
            <a:endParaRPr lang="en-US" sz="9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0030" y="1130935"/>
            <a:ext cx="2743200" cy="2414905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40" y="1222375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3205" y="1576070"/>
            <a:ext cx="2736215" cy="177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Service Matching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customers with the most suitable professional based on skills, location, and availability.
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Performance Analysis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partner ratings, earnings, and utilization to improve productivity and retention.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1830" y="1130935"/>
            <a:ext cx="2743200" cy="2414905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11830" y="1222375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11830" y="1576070"/>
            <a:ext cx="2726055" cy="17722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Worker Dispatch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assigns the nearest available worker, enabling faster service delivery.
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 Analysis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peak booking periods to optimize staffing and reduce customer waiting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2995" y="1130935"/>
            <a:ext cx="2743835" cy="2414905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9820" y="1222375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TaskRabbit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4425" y="1576070"/>
            <a:ext cx="2743200" cy="1788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Tasker Recommendation</a:t>
            </a:r>
            <a:r>
              <a:rPr lang="en-US" sz="1200" b="1" dirty="0">
                <a:solidFill>
                  <a:srgbClr val="007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best professional </a:t>
            </a:r>
            <a:endParaRPr lang="en-US" sz="10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skills, ratings, and previous performance.
</a:t>
            </a: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Performance Analysis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customers to book services through an AI chatbot or virtual assistant for a faster booking experience.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RocketSingh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Slide 3, 4, 5</a:t>
            </a:r>
            <a:endParaRPr lang="en-US" sz="1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3829</Words>
  <Application>WPS Presentation</Application>
  <PresentationFormat>On-screen Show (16:9)</PresentationFormat>
  <Paragraphs>165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Applications In On-Demand Home Service Industry</dc:title>
  <dc:creator>Sadikshya Karki</dc:creator>
  <dc:subject>PptxGenJS Presentation</dc:subject>
  <cp:lastModifiedBy>SadikshyaKarki</cp:lastModifiedBy>
  <cp:revision>29</cp:revision>
  <dcterms:created xsi:type="dcterms:W3CDTF">2026-06-28T11:12:38Z</dcterms:created>
  <dcterms:modified xsi:type="dcterms:W3CDTF">2026-06-28T11:12:38Z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BC9776E89507021AACF8406A5B827363_42</vt:lpwstr>
  </property>
</Properties>
</file>