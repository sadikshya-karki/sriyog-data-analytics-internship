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j6PUnL3YM7Y1q37QkM9YwxG1Jf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GardenSewa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Garden and Landscaping Services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 </a:t>
            </a:r>
            <a:r>
              <a:rPr lang="en" sz="1000"/>
              <a:t>Pest and Disease Control is by far the most saturated service, while several niche services have only a single provider each.</a:t>
            </a:r>
            <a:endParaRPr sz="1000"/>
          </a:p>
        </p:txBody>
      </p:sp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Number of Providers per Service</a:t>
            </a:r>
            <a:endParaRPr b="1" sz="1500"/>
          </a:p>
        </p:txBody>
      </p:sp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shows how many providers offer each of GardenSewa’s 20 garden and landscaping services</a:t>
            </a:r>
            <a:endParaRPr sz="1000"/>
          </a:p>
        </p:txBody>
      </p:sp>
      <p:pic>
        <p:nvPicPr>
          <p:cNvPr id="63" name="Google Shape;6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575" y="1041350"/>
            <a:ext cx="6842833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The market is overwhelmingly formalized, with organized companies making up nearly 90% of all listings.</a:t>
            </a:r>
            <a:endParaRPr sz="1000"/>
          </a:p>
        </p:txBody>
      </p:sp>
      <p:sp>
        <p:nvSpPr>
          <p:cNvPr id="69" name="Google Shape;69;p3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Provider Type Distribution</a:t>
            </a:r>
            <a:endParaRPr b="1" sz="1500"/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shows the overall split of listings by provider type: organized company, </a:t>
            </a:r>
            <a:r>
              <a:rPr lang="en" sz="1000"/>
              <a:t>individual/</a:t>
            </a:r>
            <a:r>
              <a:rPr lang="en" sz="1000"/>
              <a:t>informal, app/marketplace platform.</a:t>
            </a:r>
            <a:endParaRPr sz="1000"/>
          </a:p>
        </p:txBody>
      </p:sp>
      <p:pic>
        <p:nvPicPr>
          <p:cNvPr id="71" name="Google Shape;7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550" y="1041350"/>
            <a:ext cx="4552909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Organized companies dominate every service, while app-based platforms appear in only a handful of high-frequency categories.</a:t>
            </a:r>
            <a:endParaRPr sz="1000"/>
          </a:p>
        </p:txBody>
      </p:sp>
      <p:sp>
        <p:nvSpPr>
          <p:cNvPr id="77" name="Google Shape;77;p4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Provider Type Breakdown per Service</a:t>
            </a:r>
            <a:endParaRPr b="1" sz="1500"/>
          </a:p>
        </p:txBody>
      </p:sp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breaks down, service by service, which provider type is active in each category.</a:t>
            </a:r>
            <a:endParaRPr sz="1000"/>
          </a:p>
        </p:txBody>
      </p:sp>
      <p:pic>
        <p:nvPicPr>
          <p:cNvPr id="79" name="Google Shape;7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725" y="1041350"/>
            <a:ext cx="7990554" cy="33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Service availability is heavily concentrated in Kathmandu, leaving Bhaktapur significantly undeserved.</a:t>
            </a:r>
            <a:endParaRPr sz="1000"/>
          </a:p>
        </p:txBody>
      </p:sp>
      <p:sp>
        <p:nvSpPr>
          <p:cNvPr id="85" name="Google Shape;85;p5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Share of Providers by Location</a:t>
            </a:r>
            <a:endParaRPr b="1" sz="1500"/>
          </a:p>
        </p:txBody>
      </p:sp>
      <p:sp>
        <p:nvSpPr>
          <p:cNvPr id="86" name="Google Shape;86;p5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shows how service listings are distributed across Kathmandu, Lalitpur, and Bhaktapur.</a:t>
            </a:r>
            <a:endParaRPr sz="1000"/>
          </a:p>
        </p:txBody>
      </p:sp>
      <p:pic>
        <p:nvPicPr>
          <p:cNvPr id="87" name="Google Shape;8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4213" y="1041350"/>
            <a:ext cx="3275587" cy="33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Companies like Ajima and KTM Nursery leads, while many companies offer just one service.</a:t>
            </a:r>
            <a:endParaRPr sz="1000"/>
          </a:p>
        </p:txBody>
      </p:sp>
      <p:sp>
        <p:nvSpPr>
          <p:cNvPr id="93" name="Google Shape;93;p6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Top 15 Companies by Number of Services Offered</a:t>
            </a:r>
            <a:endParaRPr b="1" sz="1500"/>
          </a:p>
        </p:txBody>
      </p:sp>
      <p:sp>
        <p:nvSpPr>
          <p:cNvPr id="94" name="Google Shape;94;p6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ranks the top 15 companies by how many distinct services they offer.</a:t>
            </a:r>
            <a:endParaRPr sz="1000"/>
          </a:p>
        </p:txBody>
      </p:sp>
      <p:pic>
        <p:nvPicPr>
          <p:cNvPr id="95" name="Google Shape;9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463" y="1041350"/>
            <a:ext cx="5859067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Kathmandu leads in nearly every service category, while Bhaktapur has no presence in the top-demand services.</a:t>
            </a:r>
            <a:endParaRPr sz="1000"/>
          </a:p>
        </p:txBody>
      </p:sp>
      <p:sp>
        <p:nvSpPr>
          <p:cNvPr id="101" name="Google Shape;101;p7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Service Availability by Location</a:t>
            </a:r>
            <a:endParaRPr b="1" sz="1500"/>
          </a:p>
        </p:txBody>
      </p:sp>
      <p:sp>
        <p:nvSpPr>
          <p:cNvPr id="102" name="Google Shape;102;p7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cross-tabulates service category against location to show which services are available where.</a:t>
            </a:r>
            <a:endParaRPr sz="1000"/>
          </a:p>
        </p:txBody>
      </p:sp>
      <p:pic>
        <p:nvPicPr>
          <p:cNvPr id="103" name="Google Shape;10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3425"/>
            <a:ext cx="8839204" cy="303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Demand peaks sharply in April, while winter and peak monsoon months see almost no high-demand services.</a:t>
            </a:r>
            <a:endParaRPr sz="1000"/>
          </a:p>
        </p:txBody>
      </p:sp>
      <p:sp>
        <p:nvSpPr>
          <p:cNvPr id="109" name="Google Shape;109;p8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Monthly Demand Distribution Across All 20 Services</a:t>
            </a:r>
            <a:endParaRPr b="1" sz="1500"/>
          </a:p>
        </p:txBody>
      </p:sp>
      <p:sp>
        <p:nvSpPr>
          <p:cNvPr id="110" name="Google Shape;110;p8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tracks how many services are rated High, Moderate, or Low demand in each month of the year.</a:t>
            </a:r>
            <a:endParaRPr sz="1000"/>
          </a:p>
        </p:txBody>
      </p:sp>
      <p:pic>
        <p:nvPicPr>
          <p:cNvPr id="111" name="Google Shape;11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50" y="1041350"/>
            <a:ext cx="6858088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Most services follow a shared seasonal rhythm, though a few like Seasonal Services peak around festival months instead.</a:t>
            </a:r>
            <a:endParaRPr sz="1000"/>
          </a:p>
        </p:txBody>
      </p:sp>
      <p:sp>
        <p:nvSpPr>
          <p:cNvPr id="117" name="Google Shape;117;p9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Monthly Demand Heat Map for All 20 Services</a:t>
            </a:r>
            <a:endParaRPr b="1" sz="1500"/>
          </a:p>
        </p:txBody>
      </p:sp>
      <p:sp>
        <p:nvSpPr>
          <p:cNvPr id="118" name="Google Shape;118;p9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heat map shows the demand level of all 20 services across every month of the year.</a:t>
            </a:r>
            <a:endParaRPr sz="1000"/>
          </a:p>
        </p:txBody>
      </p:sp>
      <p:pic>
        <p:nvPicPr>
          <p:cNvPr id="119" name="Google Shape;11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150" y="1041338"/>
            <a:ext cx="4535678" cy="33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Some categories sustain demand for months at a time, while others see short, sharp seasonal spikes.</a:t>
            </a:r>
            <a:endParaRPr sz="1000"/>
          </a:p>
        </p:txBody>
      </p:sp>
      <p:sp>
        <p:nvSpPr>
          <p:cNvPr id="125" name="Google Shape;125;p10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Service Count and Average Peak Months by Category</a:t>
            </a:r>
            <a:endParaRPr b="1" sz="1500"/>
          </a:p>
        </p:txBody>
      </p:sp>
      <p:sp>
        <p:nvSpPr>
          <p:cNvPr id="126" name="Google Shape;126;p10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shows how many services exist per category and how many months, on average, each experiences peak demand.</a:t>
            </a:r>
            <a:endParaRPr sz="1000"/>
          </a:p>
        </p:txBody>
      </p:sp>
      <p:pic>
        <p:nvPicPr>
          <p:cNvPr id="127" name="Google Shape;12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25" y="1041350"/>
            <a:ext cx="6858155" cy="339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Different categories peak at different times of year, showing that seasonality varies significantly by service type.</a:t>
            </a:r>
            <a:endParaRPr sz="1000"/>
          </a:p>
        </p:txBody>
      </p:sp>
      <p:sp>
        <p:nvSpPr>
          <p:cNvPr id="133" name="Google Shape;133;p11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Seasonal Demand Trend by Service Category</a:t>
            </a:r>
            <a:endParaRPr b="1" sz="1500"/>
          </a:p>
        </p:txBody>
      </p:sp>
      <p:sp>
        <p:nvSpPr>
          <p:cNvPr id="134" name="Google Shape;134;p11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tracks the average demand score trend over the year for each service category.</a:t>
            </a:r>
            <a:endParaRPr sz="1000"/>
          </a:p>
        </p:txBody>
      </p:sp>
      <p:pic>
        <p:nvPicPr>
          <p:cNvPr id="135" name="Google Shape;13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275" y="1041350"/>
            <a:ext cx="6843433" cy="33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Provider supply drops off sharply after the top few services, showing a long tail of under-served services.</a:t>
            </a:r>
            <a:endParaRPr sz="1000"/>
          </a:p>
        </p:txBody>
      </p:sp>
      <p:sp>
        <p:nvSpPr>
          <p:cNvPr id="141" name="Google Shape;141;p12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Number of Providers Found per Service</a:t>
            </a:r>
            <a:endParaRPr b="1" sz="1500"/>
          </a:p>
        </p:txBody>
      </p:sp>
      <p:sp>
        <p:nvSpPr>
          <p:cNvPr id="142" name="Google Shape;142;p12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shows how many providers were identified for each of the 20 services.</a:t>
            </a:r>
            <a:endParaRPr sz="1000"/>
          </a:p>
        </p:txBody>
      </p:sp>
      <p:pic>
        <p:nvPicPr>
          <p:cNvPr id="143" name="Google Shape;14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025" y="1041350"/>
            <a:ext cx="5725943" cy="339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Formal companies are present in every service, while app and informal providers appear only in select categories.</a:t>
            </a:r>
            <a:endParaRPr sz="1000"/>
          </a:p>
        </p:txBody>
      </p:sp>
      <p:sp>
        <p:nvSpPr>
          <p:cNvPr id="149" name="Google Shape;149;p13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Formal vs App vs Directory Share Across All Services</a:t>
            </a:r>
            <a:endParaRPr b="1" sz="1500"/>
          </a:p>
        </p:txBody>
      </p:sp>
      <p:sp>
        <p:nvSpPr>
          <p:cNvPr id="150" name="Google Shape;150;p13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shows the mix of formal companies, app-based providers, and informal/directory listings within each service.</a:t>
            </a:r>
            <a:endParaRPr sz="1000"/>
          </a:p>
        </p:txBody>
      </p:sp>
      <p:pic>
        <p:nvPicPr>
          <p:cNvPr id="151" name="Google Shape;15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588" y="1041350"/>
            <a:ext cx="4888818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Only a few core upkeep services rate High demand, with most services falling into the Medium or Low tier.</a:t>
            </a:r>
            <a:endParaRPr sz="1000"/>
          </a:p>
        </p:txBody>
      </p:sp>
      <p:sp>
        <p:nvSpPr>
          <p:cNvPr id="157" name="Google Shape;157;p14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Demand Level Distribution</a:t>
            </a:r>
            <a:endParaRPr b="1" sz="1500"/>
          </a:p>
        </p:txBody>
      </p:sp>
      <p:sp>
        <p:nvSpPr>
          <p:cNvPr id="158" name="Google Shape;158;p14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groups all 20 services into High, Medium, or Low demand categories.</a:t>
            </a:r>
            <a:endParaRPr sz="1000"/>
          </a:p>
        </p:txBody>
      </p:sp>
      <p:pic>
        <p:nvPicPr>
          <p:cNvPr id="159" name="Google Shape;1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700" y="1041350"/>
            <a:ext cx="4802591" cy="339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Over half of all services fall into “Limited” supply, pointing to a clear gap between demand and provider availability.</a:t>
            </a:r>
            <a:endParaRPr sz="1000"/>
          </a:p>
        </p:txBody>
      </p:sp>
      <p:sp>
        <p:nvSpPr>
          <p:cNvPr id="165" name="Google Shape;165;p15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Supply Status Distribution</a:t>
            </a:r>
            <a:endParaRPr b="1" sz="1500"/>
          </a:p>
        </p:txBody>
      </p:sp>
      <p:sp>
        <p:nvSpPr>
          <p:cNvPr id="166" name="Google Shape;166;p15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classifies services by how well their current provider supply meets demand.</a:t>
            </a:r>
            <a:endParaRPr sz="1000"/>
          </a:p>
        </p:txBody>
      </p:sp>
      <p:pic>
        <p:nvPicPr>
          <p:cNvPr id="167" name="Google Shape;1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700" y="1041350"/>
            <a:ext cx="4802591" cy="339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Most services face Low competition, suggesting room for new entrants across much of the catalog.</a:t>
            </a:r>
            <a:endParaRPr sz="1000"/>
          </a:p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Competition Level Distribution</a:t>
            </a:r>
            <a:endParaRPr b="1" sz="1500"/>
          </a:p>
        </p:txBody>
      </p:sp>
      <p:sp>
        <p:nvSpPr>
          <p:cNvPr id="174" name="Google Shape;174;p16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groups services by their level of competition among existing providers.</a:t>
            </a:r>
            <a:endParaRPr sz="1000"/>
          </a:p>
        </p:txBody>
      </p:sp>
      <p:pic>
        <p:nvPicPr>
          <p:cNvPr id="175" name="Google Shape;1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700" y="1041350"/>
            <a:ext cx="4802591" cy="339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High-demand </a:t>
            </a:r>
            <a:r>
              <a:rPr lang="en" sz="1000"/>
              <a:t>services consistently also faces High competition, while Medium-demand services show the most varied pattern.</a:t>
            </a:r>
            <a:endParaRPr sz="1000"/>
          </a:p>
        </p:txBody>
      </p:sp>
      <p:sp>
        <p:nvSpPr>
          <p:cNvPr id="181" name="Google Shape;181;p17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Demand Level vs Competition Level</a:t>
            </a:r>
            <a:endParaRPr b="1" sz="1500"/>
          </a:p>
        </p:txBody>
      </p:sp>
      <p:sp>
        <p:nvSpPr>
          <p:cNvPr id="182" name="Google Shape;182;p17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cross-tabulates demand level against competition level to spot where demand outpaces competition.</a:t>
            </a:r>
            <a:endParaRPr sz="1000"/>
          </a:p>
        </p:txBody>
      </p:sp>
      <p:pic>
        <p:nvPicPr>
          <p:cNvPr id="183" name="Google Shape;1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263" y="1041350"/>
            <a:ext cx="4437481" cy="339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Services with fewer providers consistently rank lower on supply status, confirming that supply gaps are provider-driven.</a:t>
            </a:r>
            <a:endParaRPr sz="1000"/>
          </a:p>
        </p:txBody>
      </p:sp>
      <p:sp>
        <p:nvSpPr>
          <p:cNvPr id="189" name="Google Shape;189;p18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Providers Found vs Rank</a:t>
            </a:r>
            <a:endParaRPr b="1" sz="1500"/>
          </a:p>
        </p:txBody>
      </p:sp>
      <p:sp>
        <p:nvSpPr>
          <p:cNvPr id="190" name="Google Shape;190;p18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plots the number of providers found for each service against its supply-status ranking.</a:t>
            </a:r>
            <a:endParaRPr sz="1000"/>
          </a:p>
        </p:txBody>
      </p:sp>
      <p:pic>
        <p:nvPicPr>
          <p:cNvPr id="191" name="Google Shape;1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938" y="1041350"/>
            <a:ext cx="4562133" cy="339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Training availability is concentrated in a few popular categories, leaving others with very limited options.</a:t>
            </a:r>
            <a:endParaRPr sz="1000"/>
          </a:p>
        </p:txBody>
      </p:sp>
      <p:sp>
        <p:nvSpPr>
          <p:cNvPr id="197" name="Google Shape;197;p19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Number of Training Providers per Service Category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500"/>
          </a:p>
        </p:txBody>
      </p:sp>
      <p:sp>
        <p:nvSpPr>
          <p:cNvPr id="198" name="Google Shape;198;p19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shows how many training providers exist for each service category.</a:t>
            </a:r>
            <a:endParaRPr sz="1000"/>
          </a:p>
        </p:txBody>
      </p:sp>
      <p:pic>
        <p:nvPicPr>
          <p:cNvPr id="199" name="Google Shape;1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150" y="1041350"/>
            <a:ext cx="6833688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A small set of anchor institutions cover most trainable services, while most providers specialize narrowly.</a:t>
            </a:r>
            <a:endParaRPr sz="1000"/>
          </a:p>
        </p:txBody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Training Providers Ranked by Number of Services Covered</a:t>
            </a:r>
            <a:endParaRPr b="1" sz="1500"/>
          </a:p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ranks training institutions by how many different services they provide training for.</a:t>
            </a:r>
            <a:endParaRPr sz="1000"/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950" y="1041350"/>
            <a:ext cx="6866097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Training is almost entirely paid, with free options essentially unavailable across the catalog.</a:t>
            </a:r>
            <a:endParaRPr sz="1000"/>
          </a:p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Share of Paid vs Free Training</a:t>
            </a:r>
            <a:endParaRPr b="1" sz="1500"/>
          </a:p>
        </p:txBody>
      </p:sp>
      <p:sp>
        <p:nvSpPr>
          <p:cNvPr id="214" name="Google Shape;214;p21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shows </a:t>
            </a:r>
            <a:r>
              <a:rPr lang="en" sz="1000"/>
              <a:t>what </a:t>
            </a:r>
            <a:r>
              <a:rPr lang="en" sz="1000"/>
              <a:t>proportion of training programs are paid versus free. </a:t>
            </a:r>
            <a:endParaRPr sz="1000"/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5625" y="1041350"/>
            <a:ext cx="3212751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Training Providers are fairly evenly split across the three provider </a:t>
            </a:r>
            <a:r>
              <a:rPr lang="en" sz="1000"/>
              <a:t>types</a:t>
            </a:r>
            <a:r>
              <a:rPr lang="en" sz="1000"/>
              <a:t>, unlike a market dominated by one.</a:t>
            </a:r>
            <a:endParaRPr sz="1000"/>
          </a:p>
        </p:txBody>
      </p:sp>
      <p:sp>
        <p:nvSpPr>
          <p:cNvPr id="221" name="Google Shape;221;p22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Distribution of Training Providers by Type</a:t>
            </a:r>
            <a:endParaRPr b="1" sz="1500"/>
          </a:p>
        </p:txBody>
      </p:sp>
      <p:sp>
        <p:nvSpPr>
          <p:cNvPr id="222" name="Google Shape;222;p22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breaks down training providers by type, such as Training Center, Training Provider, or Training Institute.</a:t>
            </a:r>
            <a:endParaRPr sz="1000"/>
          </a:p>
        </p:txBody>
      </p:sp>
      <p:pic>
        <p:nvPicPr>
          <p:cNvPr id="223" name="Google Shape;2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4550"/>
            <a:ext cx="8839199" cy="258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Nearly every service category is dominated by paid training, with free options appearing in only one category.</a:t>
            </a:r>
            <a:endParaRPr sz="1000"/>
          </a:p>
        </p:txBody>
      </p:sp>
      <p:sp>
        <p:nvSpPr>
          <p:cNvPr id="229" name="Google Shape;229;p23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Paid vs Free Split per Service Category</a:t>
            </a:r>
            <a:endParaRPr b="1" sz="1500"/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shows the paid versus free training split within each individual service category.</a:t>
            </a:r>
            <a:endParaRPr sz="1000"/>
          </a:p>
        </p:txBody>
      </p:sp>
      <p:pic>
        <p:nvPicPr>
          <p:cNvPr id="231" name="Google Shape;2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150" y="1041350"/>
            <a:ext cx="6833688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Several service categories show little to no training availability, signaling a clear skills-development gap.</a:t>
            </a:r>
            <a:endParaRPr sz="1000"/>
          </a:p>
        </p:txBody>
      </p:sp>
      <p:sp>
        <p:nvSpPr>
          <p:cNvPr id="237" name="Google Shape;237;p24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Services with Least Training Coverage</a:t>
            </a:r>
            <a:endParaRPr b="1" sz="1500"/>
          </a:p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chart highlights the services with the fewest available training providers.</a:t>
            </a:r>
            <a:endParaRPr sz="1000"/>
          </a:p>
        </p:txBody>
      </p:sp>
      <p:pic>
        <p:nvPicPr>
          <p:cNvPr id="239" name="Google Shape;2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75" y="1041350"/>
            <a:ext cx="8629651" cy="33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311700" y="4592075"/>
            <a:ext cx="852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000"/>
              <a:t>Insight:</a:t>
            </a:r>
            <a:r>
              <a:rPr lang="en" sz="1000"/>
              <a:t> No single provider covers the full service catalog, so partnering across multiple training institutions will be necessary.</a:t>
            </a:r>
            <a:endParaRPr sz="1000"/>
          </a:p>
        </p:txBody>
      </p:sp>
      <p:sp>
        <p:nvSpPr>
          <p:cNvPr id="245" name="Google Shape;245;p25"/>
          <p:cNvSpPr txBox="1"/>
          <p:nvPr>
            <p:ph type="title"/>
          </p:nvPr>
        </p:nvSpPr>
        <p:spPr>
          <a:xfrm>
            <a:off x="311700" y="1148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Training Provider vs Service Coverage Heatmap</a:t>
            </a:r>
            <a:endParaRPr b="1" sz="1500"/>
          </a:p>
        </p:txBody>
      </p:sp>
      <p:sp>
        <p:nvSpPr>
          <p:cNvPr id="246" name="Google Shape;246;p25"/>
          <p:cNvSpPr txBox="1"/>
          <p:nvPr>
            <p:ph type="title"/>
          </p:nvPr>
        </p:nvSpPr>
        <p:spPr>
          <a:xfrm>
            <a:off x="311700" y="525950"/>
            <a:ext cx="8520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000"/>
              <a:t>Description:</a:t>
            </a:r>
            <a:r>
              <a:rPr lang="en" sz="1000"/>
              <a:t> This heat map shows which training institutions offer training for which service categories.</a:t>
            </a:r>
            <a:endParaRPr sz="1000"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600" y="1041350"/>
            <a:ext cx="6694796" cy="33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311700" y="217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253" name="Google Shape;253;p40"/>
          <p:cNvSpPr txBox="1"/>
          <p:nvPr>
            <p:ph type="title"/>
          </p:nvPr>
        </p:nvSpPr>
        <p:spPr>
          <a:xfrm>
            <a:off x="311700" y="789925"/>
            <a:ext cx="8520600" cy="3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Comparative Analysis: Google Search (official service provider websites)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200"/>
              <a:t>Yearly Services: Analysis based on seasonal demand patterns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Workforce Analysis: Google Search (official service provider websites)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Training Providers: Google Search (official training provider websites)</a:t>
            </a:r>
            <a:endParaRPr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ctrTitle"/>
          </p:nvPr>
        </p:nvSpPr>
        <p:spPr>
          <a:xfrm>
            <a:off x="311700" y="2087250"/>
            <a:ext cx="85206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